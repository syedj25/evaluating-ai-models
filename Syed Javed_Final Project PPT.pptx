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6A28-F849-453C-8E99-F766FC19471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CF26-44E1-4EAC-BBA6-EB25497A1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75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6A28-F849-453C-8E99-F766FC19471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CF26-44E1-4EAC-BBA6-EB25497A1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62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6A28-F849-453C-8E99-F766FC19471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CF26-44E1-4EAC-BBA6-EB25497A1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39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6A28-F849-453C-8E99-F766FC19471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CF26-44E1-4EAC-BBA6-EB25497A1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37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6A28-F849-453C-8E99-F766FC19471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CF26-44E1-4EAC-BBA6-EB25497A1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6A28-F849-453C-8E99-F766FC19471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CF26-44E1-4EAC-BBA6-EB25497A1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09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6A28-F849-453C-8E99-F766FC19471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CF26-44E1-4EAC-BBA6-EB25497A1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67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6A28-F849-453C-8E99-F766FC19471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CF26-44E1-4EAC-BBA6-EB25497A1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572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CF26-44E1-4EAC-BBA6-EB25497A15E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6A28-F849-453C-8E99-F766FC19471F}" type="datetimeFigureOut">
              <a:rPr lang="en-US" smtClean="0"/>
              <a:t>4/15/2026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73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6A28-F849-453C-8E99-F766FC19471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CF26-44E1-4EAC-BBA6-EB25497A1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5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6A28-F849-453C-8E99-F766FC19471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CF26-44E1-4EAC-BBA6-EB25497A15E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0751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6A28-F849-453C-8E99-F766FC19471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CF26-44E1-4EAC-BBA6-EB25497A1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4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6A28-F849-453C-8E99-F766FC19471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CF26-44E1-4EAC-BBA6-EB25497A15E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3371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6A28-F849-453C-8E99-F766FC19471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CF26-44E1-4EAC-BBA6-EB25497A1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49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6A28-F849-453C-8E99-F766FC19471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CF26-44E1-4EAC-BBA6-EB25497A1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83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6A28-F849-453C-8E99-F766FC19471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CF26-44E1-4EAC-BBA6-EB25497A1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019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A6A28-F849-453C-8E99-F766FC19471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F89CF26-44E1-4EAC-BBA6-EB25497A1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8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DF25-F490-C116-0DB4-785266E2B7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Evaluating AI Models for Business Name Detection in Mobile Databases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640113-817C-5938-C661-16D768DB0B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Syed Javed</a:t>
            </a:r>
            <a:br>
              <a:rPr lang="en-US" dirty="0"/>
            </a:br>
            <a:r>
              <a:rPr lang="en-US" dirty="0"/>
              <a:t>Professor: Dr. Weifeng Xu</a:t>
            </a:r>
            <a:br>
              <a:rPr lang="en-US" dirty="0"/>
            </a:br>
            <a:r>
              <a:rPr lang="en-US" dirty="0"/>
              <a:t>College of Public Affairs, University of Baltimore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73B6C-59C5-7C0A-A7FA-175D803ACEF3}"/>
              </a:ext>
            </a:extLst>
          </p:cNvPr>
          <p:cNvSpPr txBox="1"/>
          <p:nvPr/>
        </p:nvSpPr>
        <p:spPr>
          <a:xfrm>
            <a:off x="1264811" y="5147732"/>
            <a:ext cx="82514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Introduction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Internship: </a:t>
            </a:r>
            <a:r>
              <a:rPr lang="en-US" dirty="0"/>
              <a:t>Spring 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Focus: </a:t>
            </a:r>
            <a:r>
              <a:rPr lang="en-US" dirty="0"/>
              <a:t>Digital forensics and artificial intelligence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Task: </a:t>
            </a:r>
            <a:r>
              <a:rPr lang="en-US" dirty="0"/>
              <a:t>Detect business names in mobile database data</a:t>
            </a:r>
          </a:p>
        </p:txBody>
      </p:sp>
    </p:spTree>
    <p:extLst>
      <p:ext uri="{BB962C8B-B14F-4D97-AF65-F5344CB8AC3E}">
        <p14:creationId xmlns:p14="http://schemas.microsoft.com/office/powerpoint/2010/main" val="1555593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6619-B109-01C4-498D-22FA30613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(PROBLEM CONTEXT)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CDBD3-ADFD-DB78-2EE7-4A8031636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Digital forensic investigators analyze mobile application databases to find important information such as:</a:t>
            </a:r>
          </a:p>
          <a:p>
            <a:pPr lvl="1"/>
            <a:r>
              <a:rPr lang="en-US" dirty="0"/>
              <a:t>Business names</a:t>
            </a:r>
          </a:p>
          <a:p>
            <a:pPr lvl="1"/>
            <a:r>
              <a:rPr lang="en-US" dirty="0"/>
              <a:t>Organizations</a:t>
            </a:r>
          </a:p>
          <a:p>
            <a:pPr lvl="1"/>
            <a:r>
              <a:rPr lang="en-US" dirty="0"/>
              <a:t>Communication records</a:t>
            </a:r>
          </a:p>
          <a:p>
            <a:r>
              <a:rPr lang="en-US" dirty="0"/>
              <a:t>Manual database analysis is:</a:t>
            </a:r>
          </a:p>
          <a:p>
            <a:pPr lvl="1"/>
            <a:r>
              <a:rPr lang="en-US" dirty="0"/>
              <a:t>Time-consuming</a:t>
            </a:r>
          </a:p>
          <a:p>
            <a:pPr lvl="1"/>
            <a:r>
              <a:rPr lang="en-US" dirty="0"/>
              <a:t>Labor-intensive</a:t>
            </a:r>
          </a:p>
          <a:p>
            <a:pPr lvl="1"/>
            <a:r>
              <a:rPr lang="en-US" dirty="0"/>
              <a:t>Difficult to scale</a:t>
            </a:r>
          </a:p>
          <a:p>
            <a:r>
              <a:rPr lang="en-US" dirty="0"/>
              <a:t>Identifying business names is a type of:</a:t>
            </a:r>
          </a:p>
          <a:p>
            <a:pPr lvl="1"/>
            <a:r>
              <a:rPr lang="en-US" dirty="0"/>
              <a:t>Named Entity Recognition (NER) [1]</a:t>
            </a:r>
          </a:p>
        </p:txBody>
      </p:sp>
    </p:spTree>
    <p:extLst>
      <p:ext uri="{BB962C8B-B14F-4D97-AF65-F5344CB8AC3E}">
        <p14:creationId xmlns:p14="http://schemas.microsoft.com/office/powerpoint/2010/main" val="585801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F12F8-F41D-887E-D014-274B11F60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&amp;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3CBBD-F55D-BD6B-96F1-C783A9D04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Named Entity Recognition (NER) is a common task in natural language processing [1]</a:t>
            </a:r>
          </a:p>
          <a:p>
            <a:r>
              <a:rPr lang="en-US" dirty="0"/>
              <a:t>Large Language Models (LLMs) can perform NER tasks [1]</a:t>
            </a:r>
          </a:p>
          <a:p>
            <a:r>
              <a:rPr lang="en-US" dirty="0"/>
              <a:t>Performance depends on:</a:t>
            </a:r>
          </a:p>
          <a:p>
            <a:pPr lvl="1"/>
            <a:r>
              <a:rPr lang="en-US" dirty="0"/>
              <a:t>Data quality</a:t>
            </a:r>
          </a:p>
          <a:p>
            <a:pPr lvl="1"/>
            <a:r>
              <a:rPr lang="en-US" dirty="0"/>
              <a:t>Data structure</a:t>
            </a:r>
          </a:p>
          <a:p>
            <a:r>
              <a:rPr lang="en-US" dirty="0"/>
              <a:t>Research findings:</a:t>
            </a:r>
          </a:p>
          <a:p>
            <a:pPr lvl="1"/>
            <a:r>
              <a:rPr lang="en-US" dirty="0"/>
              <a:t>AI works well on clean text</a:t>
            </a:r>
          </a:p>
          <a:p>
            <a:pPr lvl="1"/>
            <a:r>
              <a:rPr lang="en-US" dirty="0"/>
              <a:t>AI struggles with structured and noisy data</a:t>
            </a:r>
          </a:p>
        </p:txBody>
      </p:sp>
    </p:spTree>
    <p:extLst>
      <p:ext uri="{BB962C8B-B14F-4D97-AF65-F5344CB8AC3E}">
        <p14:creationId xmlns:p14="http://schemas.microsoft.com/office/powerpoint/2010/main" val="1120391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70666-B2B4-E1B1-1AB5-37A46CB05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61764-1BA3-E4F3-26E7-2F17A209C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Project Objective</a:t>
            </a:r>
            <a:endParaRPr lang="en-US" dirty="0"/>
          </a:p>
          <a:p>
            <a:pPr lvl="1"/>
            <a:r>
              <a:rPr lang="en-US" dirty="0"/>
              <a:t>Evaluate how accurately AI models can identify business names </a:t>
            </a:r>
          </a:p>
          <a:p>
            <a:pPr lvl="1"/>
            <a:r>
              <a:rPr lang="en-US" dirty="0"/>
              <a:t>Use mobile database data as input </a:t>
            </a:r>
          </a:p>
          <a:p>
            <a:pPr lvl="1"/>
            <a:r>
              <a:rPr lang="en-US" dirty="0"/>
              <a:t>Compare AI results with manually created ground truth</a:t>
            </a:r>
          </a:p>
        </p:txBody>
      </p:sp>
    </p:spTree>
    <p:extLst>
      <p:ext uri="{BB962C8B-B14F-4D97-AF65-F5344CB8AC3E}">
        <p14:creationId xmlns:p14="http://schemas.microsoft.com/office/powerpoint/2010/main" val="1207812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8C1A6-2649-F536-2D7F-E443EE398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2C02-A467-465A-57C1-59C158ED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Seven mobile forensic databases were analyzed:</a:t>
            </a:r>
            <a:endParaRPr lang="en-US" dirty="0"/>
          </a:p>
          <a:p>
            <a:pPr lvl="1"/>
            <a:r>
              <a:rPr lang="en-US" dirty="0"/>
              <a:t>A1_msgstore.db </a:t>
            </a:r>
          </a:p>
          <a:p>
            <a:pPr lvl="1"/>
            <a:r>
              <a:rPr lang="en-US" dirty="0"/>
              <a:t>I1_ChatStorage.sqlite </a:t>
            </a:r>
          </a:p>
          <a:p>
            <a:pPr lvl="1"/>
            <a:r>
              <a:rPr lang="en-US" dirty="0"/>
              <a:t>A1_wa.db </a:t>
            </a:r>
          </a:p>
          <a:p>
            <a:pPr lvl="1"/>
            <a:r>
              <a:rPr lang="en-US" dirty="0"/>
              <a:t>I3_sms.db </a:t>
            </a:r>
          </a:p>
          <a:p>
            <a:pPr lvl="1"/>
            <a:r>
              <a:rPr lang="en-US" dirty="0"/>
              <a:t>I4_CloudTabs.db </a:t>
            </a:r>
          </a:p>
          <a:p>
            <a:pPr lvl="1"/>
            <a:r>
              <a:rPr lang="en-US" dirty="0"/>
              <a:t>I4_History.db </a:t>
            </a:r>
          </a:p>
          <a:p>
            <a:pPr lvl="1"/>
            <a:r>
              <a:rPr lang="en-US" dirty="0"/>
              <a:t>A5_SBrowser.db </a:t>
            </a:r>
          </a:p>
          <a:p>
            <a:r>
              <a:rPr lang="en-US" dirty="0"/>
              <a:t>Each database was converted into a CSV file for analysis</a:t>
            </a:r>
          </a:p>
        </p:txBody>
      </p:sp>
    </p:spTree>
    <p:extLst>
      <p:ext uri="{BB962C8B-B14F-4D97-AF65-F5344CB8AC3E}">
        <p14:creationId xmlns:p14="http://schemas.microsoft.com/office/powerpoint/2010/main" val="208400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08DC7-58DF-BE98-0BA6-74E30FDCC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GROUND TRUTH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AEF05-AF92-BA9D-CEA6-FF2356ED9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Ground Truth Creation</a:t>
            </a:r>
            <a:endParaRPr lang="en-US" dirty="0"/>
          </a:p>
          <a:p>
            <a:pPr lvl="1"/>
            <a:r>
              <a:rPr lang="en-US" dirty="0"/>
              <a:t>Business names were manually identified by: </a:t>
            </a:r>
          </a:p>
          <a:p>
            <a:pPr lvl="2"/>
            <a:r>
              <a:rPr lang="en-US" dirty="0"/>
              <a:t>Opening each database file </a:t>
            </a:r>
          </a:p>
          <a:p>
            <a:pPr lvl="2"/>
            <a:r>
              <a:rPr lang="en-US" dirty="0"/>
              <a:t>Searching tables, columns, and rows </a:t>
            </a:r>
          </a:p>
          <a:p>
            <a:pPr lvl="2"/>
            <a:r>
              <a:rPr lang="en-US" dirty="0"/>
              <a:t>Recording all visible business names </a:t>
            </a:r>
          </a:p>
          <a:p>
            <a:pPr lvl="1"/>
            <a:r>
              <a:rPr lang="en-US" dirty="0"/>
              <a:t>A ground-truth TXT file was created for each database </a:t>
            </a:r>
          </a:p>
          <a:p>
            <a:pPr lvl="1"/>
            <a:r>
              <a:rPr lang="en-US" dirty="0"/>
              <a:t>Total business names identified: </a:t>
            </a:r>
            <a:r>
              <a:rPr lang="en-US" b="1" dirty="0"/>
              <a:t>47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BEEF66-84BD-AE09-31B1-44B9AA9EA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934" y="2160589"/>
            <a:ext cx="4770135" cy="272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625C1-4E4A-0F5F-61F0-4B057E6D1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MODELS TESTED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B9B3C-DDDC-C89C-B2A3-4C8078F03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AI Models Evaluated</a:t>
            </a:r>
            <a:endParaRPr lang="en-US" dirty="0"/>
          </a:p>
          <a:p>
            <a:pPr lvl="1"/>
            <a:r>
              <a:rPr lang="en-US" dirty="0"/>
              <a:t>ChatGPT GPT-5.3 </a:t>
            </a:r>
          </a:p>
          <a:p>
            <a:pPr lvl="1"/>
            <a:r>
              <a:rPr lang="en-US" dirty="0"/>
              <a:t>Grok 4 </a:t>
            </a:r>
          </a:p>
          <a:p>
            <a:pPr lvl="1"/>
            <a:r>
              <a:rPr lang="en-US" dirty="0"/>
              <a:t>Microsoft 365 Copilot GPT-5 </a:t>
            </a:r>
          </a:p>
          <a:p>
            <a:r>
              <a:rPr lang="en-US" dirty="0"/>
              <a:t>All models received: </a:t>
            </a:r>
          </a:p>
          <a:p>
            <a:pPr lvl="1"/>
            <a:r>
              <a:rPr lang="en-US" dirty="0"/>
              <a:t>Same CSV files </a:t>
            </a:r>
          </a:p>
          <a:p>
            <a:pPr lvl="1"/>
            <a:r>
              <a:rPr lang="en-US" dirty="0"/>
              <a:t>Same ground-truth lists </a:t>
            </a:r>
          </a:p>
          <a:p>
            <a:pPr lvl="1"/>
            <a:r>
              <a:rPr lang="en-US" dirty="0"/>
              <a:t>Same instructions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525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41944-7C70-0EC0-D1C3-2D8678D27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(WORKFLOW)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4C68-184E-7275-BBA5-B93D509FF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Methodology Steps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Open and manually analyze database files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Create ground-truth list of business names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Convert database into CSV format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Verify ground-truth names exist in CSV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Provide CSV and ground truth to AI models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AI models check names (FOUND / NOT FOUND)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Compare results with ground truth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Calculate evaluation metrics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32C910-604A-D4B9-8F02-AEA095713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632" y="2160589"/>
            <a:ext cx="2423370" cy="29720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8AF47-E857-6A3F-BC60-33C1253E35E5}"/>
              </a:ext>
            </a:extLst>
          </p:cNvPr>
          <p:cNvSpPr txBox="1"/>
          <p:nvPr/>
        </p:nvSpPr>
        <p:spPr>
          <a:xfrm>
            <a:off x="7061562" y="1830759"/>
            <a:ext cx="2001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Short Workflow: </a:t>
            </a:r>
          </a:p>
        </p:txBody>
      </p:sp>
    </p:spTree>
    <p:extLst>
      <p:ext uri="{BB962C8B-B14F-4D97-AF65-F5344CB8AC3E}">
        <p14:creationId xmlns:p14="http://schemas.microsoft.com/office/powerpoint/2010/main" val="1786025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F532F-D26B-FDE1-9812-AD332EAD0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7A4AD-49B8-D31B-1C7B-4844D8B46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Evaluation Metrics</a:t>
            </a:r>
            <a:endParaRPr lang="en-US" dirty="0"/>
          </a:p>
          <a:p>
            <a:pPr lvl="1"/>
            <a:r>
              <a:rPr lang="en-US" b="1" dirty="0"/>
              <a:t>Precision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Formula: TP / (TP + FP) </a:t>
            </a:r>
          </a:p>
          <a:p>
            <a:pPr lvl="2"/>
            <a:r>
              <a:rPr lang="en-US" dirty="0"/>
              <a:t>Meaning: When the AI says it found a name, how often is it correct? </a:t>
            </a:r>
          </a:p>
          <a:p>
            <a:pPr lvl="1"/>
            <a:r>
              <a:rPr lang="en-US" b="1" dirty="0"/>
              <a:t>Recall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Formula: TP / (TP + FN) </a:t>
            </a:r>
          </a:p>
          <a:p>
            <a:pPr lvl="2"/>
            <a:r>
              <a:rPr lang="en-US" dirty="0"/>
              <a:t>Meaning: Out of all real business names, how many did the AI find? </a:t>
            </a:r>
          </a:p>
          <a:p>
            <a:pPr lvl="1"/>
            <a:r>
              <a:rPr lang="en-US" b="1" dirty="0"/>
              <a:t>F1 Score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Formula: 2 × (Precision × Recall) / (Precision + Recall) </a:t>
            </a:r>
          </a:p>
          <a:p>
            <a:pPr lvl="2"/>
            <a:r>
              <a:rPr lang="en-US" dirty="0"/>
              <a:t>Meaning: Balance between precision and recall </a:t>
            </a:r>
          </a:p>
          <a:p>
            <a:r>
              <a:rPr lang="en-US" dirty="0"/>
              <a:t>Accuracy was not used due to lack of true negatives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060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7E22A-0EE7-9D2A-28F3-8F95EE69F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7141D-F681-3CFC-D5E4-CCF4E6919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Model Performance Comparison</a:t>
            </a:r>
            <a:endParaRPr lang="en-US" dirty="0"/>
          </a:p>
          <a:p>
            <a:pPr lvl="1"/>
            <a:r>
              <a:rPr lang="en-US" dirty="0"/>
              <a:t>ChatGPT GPT-5.3: </a:t>
            </a:r>
          </a:p>
          <a:p>
            <a:pPr lvl="2"/>
            <a:r>
              <a:rPr lang="en-US" dirty="0"/>
              <a:t>Best overall performance </a:t>
            </a:r>
          </a:p>
          <a:p>
            <a:pPr lvl="1"/>
            <a:r>
              <a:rPr lang="en-US" dirty="0"/>
              <a:t>Grok 4: </a:t>
            </a:r>
          </a:p>
          <a:p>
            <a:pPr lvl="2"/>
            <a:r>
              <a:rPr lang="en-US" dirty="0"/>
              <a:t>High precision </a:t>
            </a:r>
          </a:p>
          <a:p>
            <a:pPr lvl="2"/>
            <a:r>
              <a:rPr lang="en-US" dirty="0"/>
              <a:t>Low recall </a:t>
            </a:r>
          </a:p>
          <a:p>
            <a:pPr lvl="1"/>
            <a:r>
              <a:rPr lang="en-US" dirty="0"/>
              <a:t>Copilot GPT-5: </a:t>
            </a:r>
          </a:p>
          <a:p>
            <a:pPr lvl="2"/>
            <a:r>
              <a:rPr lang="en-US" dirty="0"/>
              <a:t>Moderate performance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14FAFF-AB9B-AB95-C51E-2EF7E8AC8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60588"/>
            <a:ext cx="5151041" cy="388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14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12CF2-1C21-75DD-BC23-11F160C7E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521E3-CC6E-B954-0A89-696D4CE732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Reasons for Errors</a:t>
            </a:r>
            <a:endParaRPr lang="en-US" dirty="0"/>
          </a:p>
          <a:p>
            <a:pPr lvl="1"/>
            <a:r>
              <a:rPr lang="en-US" dirty="0"/>
              <a:t>Conservative detection (high confidence only) </a:t>
            </a:r>
          </a:p>
          <a:p>
            <a:pPr lvl="1"/>
            <a:r>
              <a:rPr lang="en-US" dirty="0"/>
              <a:t>Noisy and unstructured database data </a:t>
            </a:r>
          </a:p>
          <a:p>
            <a:pPr lvl="1"/>
            <a:r>
              <a:rPr lang="en-US" dirty="0"/>
              <a:t>Large CSV files causing missed entries </a:t>
            </a:r>
          </a:p>
          <a:p>
            <a:pPr lvl="1"/>
            <a:r>
              <a:rPr lang="en-US" dirty="0"/>
              <a:t>Formatting and encoding differences </a:t>
            </a:r>
          </a:p>
          <a:p>
            <a:pPr lvl="1"/>
            <a:r>
              <a:rPr lang="en-US" dirty="0"/>
              <a:t>Research shows LLMs struggle with structured and domain-specific data</a:t>
            </a:r>
          </a:p>
          <a:p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A151785-DEC4-7CBF-AC3A-951659BD73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27262" y="2084439"/>
            <a:ext cx="7158261" cy="45621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B09F7AD-D935-2F38-925E-3261B6EED90A}"/>
              </a:ext>
            </a:extLst>
          </p:cNvPr>
          <p:cNvSpPr txBox="1"/>
          <p:nvPr/>
        </p:nvSpPr>
        <p:spPr>
          <a:xfrm>
            <a:off x="7210359" y="1561068"/>
            <a:ext cx="2392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Ex: A1_msgstore.csv</a:t>
            </a:r>
          </a:p>
        </p:txBody>
      </p:sp>
    </p:spTree>
    <p:extLst>
      <p:ext uri="{BB962C8B-B14F-4D97-AF65-F5344CB8AC3E}">
        <p14:creationId xmlns:p14="http://schemas.microsoft.com/office/powerpoint/2010/main" val="1164179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8C93F-49D7-4DE2-0E53-D6EF59B38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E7800-EC77-631B-FF92-0E9615D32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Data Improvements</a:t>
            </a:r>
            <a:endParaRPr lang="en-US" dirty="0"/>
          </a:p>
          <a:p>
            <a:pPr lvl="2"/>
            <a:r>
              <a:rPr lang="en-US" dirty="0"/>
              <a:t>Clean and normalize CSV data </a:t>
            </a:r>
          </a:p>
          <a:p>
            <a:pPr lvl="2"/>
            <a:r>
              <a:rPr lang="en-US" dirty="0"/>
              <a:t>Split large files for better processing</a:t>
            </a:r>
          </a:p>
          <a:p>
            <a:r>
              <a:rPr lang="en-US" b="1" dirty="0"/>
              <a:t>Alternative Data Formats</a:t>
            </a:r>
            <a:endParaRPr lang="en-US" dirty="0"/>
          </a:p>
          <a:p>
            <a:pPr lvl="1"/>
            <a:r>
              <a:rPr lang="en-US" dirty="0"/>
              <a:t>Convert database data into: </a:t>
            </a:r>
          </a:p>
          <a:p>
            <a:pPr lvl="2"/>
            <a:r>
              <a:rPr lang="en-US" b="1" dirty="0"/>
              <a:t>JSON (structured, key-value format)</a:t>
            </a:r>
            <a:r>
              <a:rPr lang="en-US" dirty="0"/>
              <a:t> [4] [5]</a:t>
            </a:r>
          </a:p>
          <a:p>
            <a:pPr lvl="2"/>
            <a:r>
              <a:rPr lang="en-US" b="1" dirty="0"/>
              <a:t>TOON (compact format optimized for AI) </a:t>
            </a:r>
            <a:r>
              <a:rPr lang="en-US" dirty="0"/>
              <a:t>[4] [5]</a:t>
            </a:r>
          </a:p>
          <a:p>
            <a:r>
              <a:rPr lang="en-US" b="1" dirty="0"/>
              <a:t>Why This Matters</a:t>
            </a:r>
            <a:endParaRPr lang="en-US" dirty="0"/>
          </a:p>
          <a:p>
            <a:pPr lvl="1"/>
            <a:r>
              <a:rPr lang="en-US" dirty="0"/>
              <a:t>Better structure improves AI understanding </a:t>
            </a:r>
          </a:p>
          <a:p>
            <a:pPr lvl="1"/>
            <a:r>
              <a:rPr lang="en-US" dirty="0"/>
              <a:t>TOON reduces token usage (more efficient) </a:t>
            </a:r>
          </a:p>
          <a:p>
            <a:pPr lvl="1"/>
            <a:r>
              <a:rPr lang="en-US" dirty="0"/>
              <a:t>Potential for improved accuracy and lower cost</a:t>
            </a:r>
          </a:p>
        </p:txBody>
      </p:sp>
    </p:spTree>
    <p:extLst>
      <p:ext uri="{BB962C8B-B14F-4D97-AF65-F5344CB8AC3E}">
        <p14:creationId xmlns:p14="http://schemas.microsoft.com/office/powerpoint/2010/main" val="2764922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6030F-3664-761D-D583-1E37EA6C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4F86C-905D-8621-8E86-BD4118C73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ChatGPT achieved the best overall performance</a:t>
            </a:r>
          </a:p>
          <a:p>
            <a:r>
              <a:rPr lang="en-US" dirty="0"/>
              <a:t>AI can assist digital forensic investigations</a:t>
            </a:r>
          </a:p>
          <a:p>
            <a:r>
              <a:rPr lang="en-US" dirty="0"/>
              <a:t>Model performance depends on:</a:t>
            </a:r>
          </a:p>
          <a:p>
            <a:pPr lvl="1"/>
            <a:r>
              <a:rPr lang="en-US" dirty="0"/>
              <a:t>Data quality</a:t>
            </a:r>
          </a:p>
          <a:p>
            <a:pPr lvl="1"/>
            <a:r>
              <a:rPr lang="en-US" dirty="0"/>
              <a:t>Model behavior</a:t>
            </a:r>
          </a:p>
          <a:p>
            <a:pPr lvl="1"/>
            <a:r>
              <a:rPr lang="en-US" dirty="0"/>
              <a:t>Data structure</a:t>
            </a:r>
          </a:p>
        </p:txBody>
      </p:sp>
    </p:spTree>
    <p:extLst>
      <p:ext uri="{BB962C8B-B14F-4D97-AF65-F5344CB8AC3E}">
        <p14:creationId xmlns:p14="http://schemas.microsoft.com/office/powerpoint/2010/main" val="1877514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115DB-1963-3FA3-5A80-C650B1E9D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F1740-739A-511C-E49C-613AA8A4E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[1] S. Wang, Y. Liu, and Z. Chen, “GPT-NER: Named Entity Recognition via Large Language Models,” in </a:t>
            </a:r>
            <a:r>
              <a:rPr lang="en-US" i="1" dirty="0"/>
              <a:t>Proc. Assoc. </a:t>
            </a:r>
            <a:r>
              <a:rPr lang="en-US" i="1" dirty="0" err="1"/>
              <a:t>Comput</a:t>
            </a:r>
            <a:r>
              <a:rPr lang="en-US" i="1" dirty="0"/>
              <a:t>. Linguistics (ACL)</a:t>
            </a:r>
            <a:r>
              <a:rPr lang="en-US" dirty="0"/>
              <a:t>, 2025.</a:t>
            </a:r>
          </a:p>
          <a:p>
            <a:r>
              <a:rPr lang="en-US" dirty="0"/>
              <a:t>[2] Y. Lu and Y. Huo, “Financial Named Entity Recognition: How Far Can Large Language Models Go?,” </a:t>
            </a:r>
            <a:r>
              <a:rPr lang="en-US" dirty="0" err="1"/>
              <a:t>arXiv</a:t>
            </a:r>
            <a:r>
              <a:rPr lang="en-US" dirty="0"/>
              <a:t> preprint arXiv:2501.02237, 2025.</a:t>
            </a:r>
          </a:p>
          <a:p>
            <a:r>
              <a:rPr lang="en-US" dirty="0"/>
              <a:t>[3] Y. Zhao, “Large Language Models for Named Entity Recognition: A Survey,” </a:t>
            </a:r>
            <a:r>
              <a:rPr lang="en-US" i="1" dirty="0" err="1"/>
              <a:t>Artif</a:t>
            </a:r>
            <a:r>
              <a:rPr lang="en-US" i="1" dirty="0"/>
              <a:t>. Intell. Rev.</a:t>
            </a:r>
            <a:r>
              <a:rPr lang="en-US" dirty="0"/>
              <a:t>, 2025.</a:t>
            </a:r>
          </a:p>
          <a:p>
            <a:r>
              <a:rPr lang="en-US" dirty="0"/>
              <a:t>[4] V. Sheth, “JSON vs TOON: The New Structure for Large Language Models,” Medium, 2025.</a:t>
            </a:r>
          </a:p>
          <a:p>
            <a:r>
              <a:rPr lang="en-US" dirty="0"/>
              <a:t>[5] A. Dugan, “TOON vs. JSON,” </a:t>
            </a:r>
            <a:r>
              <a:rPr lang="en-US" dirty="0" err="1"/>
              <a:t>DigitalOcean</a:t>
            </a:r>
            <a:r>
              <a:rPr lang="en-US" dirty="0"/>
              <a:t> Community Tutorials, Dec. 16, 2025.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6038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618</TotalTime>
  <Words>764</Words>
  <Application>Microsoft Office PowerPoint</Application>
  <PresentationFormat>Widescreen</PresentationFormat>
  <Paragraphs>124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Evaluating AI Models for Business Name Detection in Mobile Databases</vt:lpstr>
      <vt:lpstr>INTRODUCTION (PROBLEM CONTEXT)</vt:lpstr>
      <vt:lpstr>BACKGROUND &amp; RESEARCH</vt:lpstr>
      <vt:lpstr>OBJECTIVE</vt:lpstr>
      <vt:lpstr>DATASET</vt:lpstr>
      <vt:lpstr>GROUND TRUTH</vt:lpstr>
      <vt:lpstr>AI MODELS TESTED</vt:lpstr>
      <vt:lpstr>METHODOLOGY (WORKFLOW)</vt:lpstr>
      <vt:lpstr>EVALUATION METRICS</vt:lpstr>
      <vt:lpstr>RESULTS</vt:lpstr>
      <vt:lpstr>ERROR ANALYSIS</vt:lpstr>
      <vt:lpstr>FUTURE WORK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38</cp:revision>
  <dcterms:created xsi:type="dcterms:W3CDTF">2026-04-13T20:38:14Z</dcterms:created>
  <dcterms:modified xsi:type="dcterms:W3CDTF">2026-04-15T21:55:16Z</dcterms:modified>
</cp:coreProperties>
</file>